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5A"/>
                </a:solidFill>
              </a:defRPr>
            </a:pPr>
            <a:r>
              <a:t>SPACE ONE.Z &amp; OLD BEAT YEONGDO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EBE3"/>
                </a:solidFill>
              </a:defRPr>
            </a:pPr>
            <a:r>
              <a:t>스페이스원지 &amp;</a:t>
            </a:r>
            <a:br/>
            <a:r>
              <a:t>올드비트 영도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A8578"/>
                </a:solidFill>
              </a:defRPr>
            </a:pPr>
            <a:r>
              <a:t>웹사이트 구축 프로젝트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578"/>
                </a:solidFill>
              </a:defRPr>
            </a:pPr>
            <a:r>
              <a:t>2025. 04  |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8A8578"/>
                </a:solidFill>
              </a:defRPr>
            </a:pPr>
            <a:r>
              <a:t>프로젝트명  Space ONE.Z &amp; Old Beat Yeongdo 웹사이트</a:t>
            </a:r>
          </a:p>
          <a:p>
            <a:pPr>
              <a:spcAft>
                <a:spcPts val="800"/>
              </a:spcAft>
              <a:defRPr sz="1800">
                <a:solidFill>
                  <a:srgbClr val="8A8578"/>
                </a:solidFill>
              </a:defRPr>
            </a:pPr>
            <a:r>
              <a:t>위치  부산광역시 영도구 대평로 27번길 8</a:t>
            </a:r>
          </a:p>
          <a:p>
            <a:pPr>
              <a:spcAft>
                <a:spcPts val="800"/>
              </a:spcAft>
              <a:defRPr sz="1800">
                <a:solidFill>
                  <a:srgbClr val="8A8578"/>
                </a:solidFill>
              </a:defRPr>
            </a:pPr>
            <a:r>
              <a:t>공간 유형  복합문화공간 (레스토랑 + 갤러리 + 공연장 + 워크숍)</a:t>
            </a:r>
          </a:p>
          <a:p>
            <a:pPr>
              <a:spcAft>
                <a:spcPts val="800"/>
              </a:spcAft>
              <a:defRPr sz="1800">
                <a:solidFill>
                  <a:srgbClr val="8A8578"/>
                </a:solidFill>
              </a:defRPr>
            </a:pPr>
            <a:r>
              <a:t>웹사이트  하나의 통합 사이트</a:t>
            </a:r>
          </a:p>
          <a:p>
            <a:pPr>
              <a:spcAft>
                <a:spcPts val="800"/>
              </a:spcAft>
              <a:defRPr sz="1800">
                <a:solidFill>
                  <a:srgbClr val="8A8578"/>
                </a:solidFill>
              </a:defRPr>
            </a:pPr>
            <a:r>
              <a:t>예약 연동  네이버 예약 외부 링크</a:t>
            </a:r>
          </a:p>
          <a:p>
            <a:pPr>
              <a:spcAft>
                <a:spcPts val="800"/>
              </a:spcAft>
              <a:defRPr sz="1800">
                <a:solidFill>
                  <a:srgbClr val="8A8578"/>
                </a:solidFill>
              </a:defRPr>
            </a:pPr>
            <a:r>
              <a:t>기술 스택  Next.js 16 + React 19 + Tailwind 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배경 &amp;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EBE3"/>
                </a:solidFill>
              </a:defRPr>
            </a:pPr>
            <a:r>
              <a:t>부산 영도의 역사적 산업 건물을 리노베이션한</a:t>
            </a:r>
            <a:br/>
            <a:r>
              <a:t>복합문화공간의 가치와 프로그램을</a:t>
            </a:r>
            <a:br/>
            <a:r>
              <a:t>효과적으로 전달하는 공식 웹사이트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8A8578"/>
                </a:solidFill>
              </a:defRPr>
            </a:pPr>
            <a:r>
              <a:t>브랜드 아이덴티티 온라인 구현</a:t>
            </a:r>
          </a:p>
          <a:p>
            <a:pPr>
              <a:spcAft>
                <a:spcPts val="800"/>
              </a:spcAft>
              <a:defRPr sz="1800">
                <a:solidFill>
                  <a:srgbClr val="8A8578"/>
                </a:solidFill>
              </a:defRPr>
            </a:pPr>
            <a:r>
              <a:t>공간/메뉴/행사 통합 정보 허브</a:t>
            </a:r>
          </a:p>
          <a:p>
            <a:pPr>
              <a:spcAft>
                <a:spcPts val="800"/>
              </a:spcAft>
              <a:defRPr sz="1800">
                <a:solidFill>
                  <a:srgbClr val="8A8578"/>
                </a:solidFill>
              </a:defRPr>
            </a:pPr>
            <a:r>
              <a:t>네이버 예약 연동 → 예약 전환</a:t>
            </a:r>
          </a:p>
          <a:p>
            <a:pPr>
              <a:spcAft>
                <a:spcPts val="800"/>
              </a:spcAft>
              <a:defRPr sz="1800">
                <a:solidFill>
                  <a:srgbClr val="8A8578"/>
                </a:solidFill>
              </a:defRPr>
            </a:pPr>
            <a:r>
              <a:t>온라인 대관 문의 채널 확보</a:t>
            </a:r>
          </a:p>
          <a:p>
            <a:pPr>
              <a:spcAft>
                <a:spcPts val="800"/>
              </a:spcAft>
              <a:defRPr sz="1800">
                <a:solidFill>
                  <a:srgbClr val="8A8578"/>
                </a:solidFill>
              </a:defRPr>
            </a:pPr>
            <a:r>
              <a:t>전시/공연/워크숍 지속 홍보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사이트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383280" cy="1828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홈 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79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히어로 + 공간소개</a:t>
            </a:r>
            <a:br/>
            <a:r>
              <a:t>+ 행사 + 소식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2103120"/>
            <a:ext cx="3383280" cy="1828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23774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소개 /about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926079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스토리 · 철학</a:t>
            </a:r>
            <a:br/>
            <a:r>
              <a:t>통계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103120"/>
            <a:ext cx="3383280" cy="1828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3774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소식 /news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926079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카드 그리드</a:t>
            </a:r>
            <a:br/>
            <a:r>
              <a:t>공지/소식/미디어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97679"/>
            <a:ext cx="3383280" cy="1828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199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행사 /events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진행중/예정/종료</a:t>
            </a:r>
            <a:br/>
            <a:r>
              <a:t>전시/공연/워크숍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4297679"/>
            <a:ext cx="3383280" cy="1828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457199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공간 /space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레스토랑 · 갤러리</a:t>
            </a:r>
            <a:br/>
            <a:r>
              <a:t>루프탑 · 워크숍룸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297679"/>
            <a:ext cx="3383280" cy="1828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57199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예약 /reservation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네이버 예약</a:t>
            </a:r>
            <a:br/>
            <a:r>
              <a:t>대관 문의 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디자인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8578"/>
                </a:solidFill>
              </a:defRPr>
            </a:pPr>
            <a:r>
              <a:t>"Warm Industrial" — 영도 산업유산의 따뜻한 감성, 몰입감 있는 경험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2377440" cy="1097280"/>
          </a:xfrm>
          <a:prstGeom prst="rect">
            <a:avLst/>
          </a:prstGeom>
          <a:solidFill>
            <a:srgbClr val="0A0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EBE3"/>
                </a:solidFill>
              </a:defRPr>
            </a:pPr>
            <a:r>
              <a:t>#0A0A08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BE3"/>
                </a:solidFill>
              </a:defRPr>
            </a:pPr>
            <a:r>
              <a:t>웜 블랙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926080"/>
            <a:ext cx="2377440" cy="1097280"/>
          </a:xfrm>
          <a:prstGeom prst="rect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EBE3"/>
                </a:solidFill>
              </a:defRPr>
            </a:pPr>
            <a:r>
              <a:t>#C8965A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BE3"/>
                </a:solidFill>
              </a:defRPr>
            </a:pPr>
            <a:r>
              <a:t>앤틱 브래스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926080"/>
            <a:ext cx="2377440" cy="109728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0A08"/>
                </a:solidFill>
              </a:defRPr>
            </a:pPr>
            <a:r>
              <a:t>#F0EBE3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0A08"/>
                </a:solidFill>
              </a:defRPr>
            </a:pPr>
            <a:r>
              <a:t>웜 크림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2926080"/>
            <a:ext cx="2377440" cy="1097280"/>
          </a:xfrm>
          <a:prstGeom prst="rect">
            <a:avLst/>
          </a:prstGeom>
          <a:solidFill>
            <a:srgbClr val="8A8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0A08"/>
                </a:solidFill>
              </a:defRPr>
            </a:pPr>
            <a:r>
              <a:t>#8A8578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0A08"/>
                </a:solidFill>
              </a:defRPr>
            </a:pPr>
            <a:r>
              <a:t>웜 그레이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8A8578"/>
                </a:solidFill>
              </a:defRPr>
            </a:pPr>
            <a:r>
              <a:t>reveal — 아래에서 페이드인</a:t>
            </a:r>
          </a:p>
          <a:p>
            <a:pPr>
              <a:spcAft>
                <a:spcPts val="800"/>
              </a:spcAft>
              <a:defRPr sz="1500">
                <a:solidFill>
                  <a:srgbClr val="8A8578"/>
                </a:solidFill>
              </a:defRPr>
            </a:pPr>
            <a:r>
              <a:t>reveal-scale — 스케일업 페이드인</a:t>
            </a:r>
          </a:p>
          <a:p>
            <a:pPr>
              <a:spcAft>
                <a:spcPts val="800"/>
              </a:spcAft>
              <a:defRPr sz="1500">
                <a:solidFill>
                  <a:srgbClr val="8A8578"/>
                </a:solidFill>
              </a:defRPr>
            </a:pPr>
            <a:r>
              <a:t>reveal-left/right — 좌/우 슬라이드인</a:t>
            </a:r>
          </a:p>
          <a:p>
            <a:pPr>
              <a:spcAft>
                <a:spcPts val="800"/>
              </a:spcAft>
              <a:defRPr sz="1500">
                <a:solidFill>
                  <a:srgbClr val="8A8578"/>
                </a:solidFill>
              </a:defRPr>
            </a:pPr>
            <a:r>
              <a:t>패럴랙스 — 스크롤 기반 배경 이동</a:t>
            </a:r>
          </a:p>
          <a:p>
            <a:pPr>
              <a:spcAft>
                <a:spcPts val="800"/>
              </a:spcAft>
              <a:defRPr sz="1500">
                <a:solidFill>
                  <a:srgbClr val="8A8578"/>
                </a:solidFill>
              </a:defRPr>
            </a:pPr>
            <a:r>
              <a:t>히어로 줌인 — 8초간 1.15→1 스케일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홈페이지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2011680" cy="4114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5A"/>
                </a:solidFill>
              </a:defRPr>
            </a:pPr>
            <a:r>
              <a:t>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</a:defRPr>
            </a:pPr>
            <a:r>
              <a:t>120vh 패럴랙스</a:t>
            </a:r>
            <a:br/>
            <a:r>
              <a:t>줌인 애니메이션</a:t>
            </a:r>
            <a:br/>
            <a:r>
              <a:t>대형 타이포 (9xl)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011680"/>
            <a:ext cx="2011680" cy="4114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5A"/>
                </a:solidFill>
              </a:defRPr>
            </a:pPr>
            <a:r>
              <a:t>공간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92608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</a:defRPr>
            </a:pPr>
            <a:r>
              <a:t>풀스크린 x 2</a:t>
            </a:r>
            <a:br/>
            <a:r>
              <a:t>패럴랙스 배경</a:t>
            </a:r>
            <a:br/>
            <a:r>
              <a:t>좌/우 슬라이드인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011680"/>
            <a:ext cx="2011680" cy="4114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5A"/>
                </a:solidFill>
              </a:defRPr>
            </a:pPr>
            <a:r>
              <a:t>인터루드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92608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</a:defRPr>
            </a:pPr>
            <a:r>
              <a:t>풀블리드 인용문</a:t>
            </a:r>
            <a:br/>
            <a:r>
              <a:t>스케일업 리빌</a:t>
            </a:r>
            <a:br/>
            <a:r>
              <a:t>'오래된 것의 새로운 울림'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011680"/>
            <a:ext cx="2011680" cy="4114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5A"/>
                </a:solidFill>
              </a:defRPr>
            </a:pPr>
            <a:r>
              <a:t>행사·전시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92608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</a:defRPr>
            </a:pPr>
            <a:r>
              <a:t>21:9 피처드 카드</a:t>
            </a:r>
            <a:br/>
            <a:r>
              <a:t>+ 2열 그리드</a:t>
            </a:r>
            <a:br/>
            <a:r>
              <a:t>상태 뱃지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2011680"/>
            <a:ext cx="2011680" cy="4114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5A"/>
                </a:solidFill>
              </a:defRPr>
            </a:pPr>
            <a:r>
              <a:t>소식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92608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578"/>
                </a:solidFill>
              </a:defRPr>
            </a:pPr>
            <a:r>
              <a:t>에디토리얼 리스트</a:t>
            </a:r>
            <a:br/>
            <a:r>
              <a:t>번호 + 호버 밀림</a:t>
            </a:r>
            <a:br/>
            <a:r>
              <a:t>카테고리 태그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기술 스택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2468880" cy="32004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65A"/>
                </a:solidFill>
              </a:defRPr>
            </a:pPr>
            <a:r>
              <a:t>Next.js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578"/>
                </a:solidFill>
              </a:defRPr>
            </a:pPr>
            <a:r>
              <a:t>App Router</a:t>
            </a:r>
            <a:br/>
            <a:r>
              <a:t>SSG 정적 생성</a:t>
            </a:r>
            <a:br/>
            <a:r>
              <a:t>Metadata SEO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2103120"/>
            <a:ext cx="2468880" cy="32004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65A"/>
                </a:solidFill>
              </a:defRPr>
            </a:pPr>
            <a:r>
              <a:t>React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0175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578"/>
                </a:solidFill>
              </a:defRPr>
            </a:pPr>
            <a:r>
              <a:t>Server Components</a:t>
            </a:r>
            <a:br/>
            <a:r>
              <a:t>TypeScript</a:t>
            </a:r>
            <a:br/>
            <a:r>
              <a:t>컴포넌트 아키텍처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2468880" cy="32004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65A"/>
                </a:solidFill>
              </a:defRPr>
            </a:pPr>
            <a:r>
              <a:t>Tailwind v4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0175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578"/>
                </a:solidFill>
              </a:defRPr>
            </a:pPr>
            <a:r>
              <a:t>유틸리티 CSS</a:t>
            </a:r>
            <a:br/>
            <a:r>
              <a:t>반응형 디자인</a:t>
            </a:r>
            <a:br/>
            <a:r>
              <a:t>커스텀 테마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103120"/>
            <a:ext cx="2468880" cy="32004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65A"/>
                </a:solidFill>
              </a:defRPr>
            </a:pPr>
            <a:r>
              <a:t>CSS Animations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30175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578"/>
                </a:solidFill>
              </a:defRPr>
            </a:pPr>
            <a:r>
              <a:t>GPU 가속 transition</a:t>
            </a:r>
            <a:br/>
            <a:r>
              <a:t>IntersectionObserver</a:t>
            </a:r>
            <a:br/>
            <a:r>
              <a:t>패럴랙스 스크롤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핵심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5029200" cy="192024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네이버 예약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39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런치/디너 코스 메뉴 카드</a:t>
            </a:r>
            <a:br/>
            <a:r>
              <a:t>CTA 버튼 → 네이버 예약</a:t>
            </a:r>
            <a:br/>
            <a:r>
              <a:t>행사 상세에서도 예약 유도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103120"/>
            <a:ext cx="5029200" cy="192024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774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대관 문의 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834639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이름, 연락처, 이메일</a:t>
            </a:r>
            <a:br/>
            <a:r>
              <a:t>희망일자, 행사유형, 인원</a:t>
            </a:r>
            <a:br/>
            <a:r>
              <a:t>접수 확인 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89120"/>
            <a:ext cx="5029200" cy="192024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반응형 디자인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320px ~ 1920px</a:t>
            </a:r>
            <a:br/>
            <a:r>
              <a:t>모바일 햄버거 메뉴</a:t>
            </a:r>
            <a:br/>
            <a:r>
              <a:t>1열 레이아웃 전환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389120"/>
            <a:ext cx="5029200" cy="192024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</a:defRPr>
            </a:pPr>
            <a:r>
              <a:t>SEO 최적화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120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578"/>
                </a:solidFill>
              </a:defRPr>
            </a:pPr>
            <a:r>
              <a:t>Next.js Metadata API</a:t>
            </a:r>
            <a:br/>
            <a:r>
              <a:t>SSG 정적 생성</a:t>
            </a:r>
            <a:br/>
            <a:r>
              <a:t>페이지별 title/description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일정 계획</a:t>
            </a:r>
          </a:p>
        </p:txBody>
      </p:sp>
      <p:sp>
        <p:nvSpPr>
          <p:cNvPr id="4" name="Oval 3"/>
          <p:cNvSpPr/>
          <p:nvPr/>
        </p:nvSpPr>
        <p:spPr>
          <a:xfrm>
            <a:off x="1280160" y="2560320"/>
            <a:ext cx="274320" cy="274320"/>
          </a:xfrm>
          <a:prstGeom prst="ellipse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4480" y="2651760"/>
            <a:ext cx="2011680" cy="45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965A"/>
                </a:solidFill>
              </a:defRPr>
            </a:pPr>
            <a:r>
              <a:t>W1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EBE3"/>
                </a:solidFill>
              </a:defRPr>
            </a:pPr>
            <a:r>
              <a:t>프로젝트 셋업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578"/>
                </a:solidFill>
              </a:defRPr>
            </a:pPr>
            <a:r>
              <a:t>환경, 디자인 토큰</a:t>
            </a:r>
            <a:br/>
            <a:r>
              <a:t>Header/Footer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2560320"/>
            <a:ext cx="274320" cy="274320"/>
          </a:xfrm>
          <a:prstGeom prst="ellipse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2651760"/>
            <a:ext cx="2011680" cy="45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965A"/>
                </a:solidFill>
              </a:defRPr>
            </a:pPr>
            <a:r>
              <a:t>W2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EBE3"/>
                </a:solidFill>
              </a:defRPr>
            </a:pPr>
            <a:r>
              <a:t>홈페이지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0233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578"/>
                </a:solidFill>
              </a:defRPr>
            </a:pPr>
            <a:r>
              <a:t>히어로, 공간소개</a:t>
            </a:r>
            <a:br/>
            <a:r>
              <a:t>행사, 소식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2560320"/>
            <a:ext cx="274320" cy="274320"/>
          </a:xfrm>
          <a:prstGeom prst="ellipse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651760"/>
            <a:ext cx="2011680" cy="45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965A"/>
                </a:solidFill>
              </a:defRPr>
            </a:pPr>
            <a:r>
              <a:t>W3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EBE3"/>
                </a:solidFill>
              </a:defRPr>
            </a:pPr>
            <a:r>
              <a:t>서브 페이지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0233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578"/>
                </a:solidFill>
              </a:defRPr>
            </a:pPr>
            <a:r>
              <a:t>소개, 소식, 행사</a:t>
            </a:r>
            <a:br/>
            <a:r>
              <a:t>공간, 예약</a:t>
            </a:r>
          </a:p>
        </p:txBody>
      </p:sp>
      <p:sp>
        <p:nvSpPr>
          <p:cNvPr id="19" name="Oval 18"/>
          <p:cNvSpPr/>
          <p:nvPr/>
        </p:nvSpPr>
        <p:spPr>
          <a:xfrm>
            <a:off x="8138160" y="2560320"/>
            <a:ext cx="274320" cy="274320"/>
          </a:xfrm>
          <a:prstGeom prst="ellipse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2651760"/>
            <a:ext cx="2011680" cy="45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965A"/>
                </a:solidFill>
              </a:defRPr>
            </a:pPr>
            <a:r>
              <a:t>W4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EBE3"/>
                </a:solidFill>
              </a:defRPr>
            </a:pPr>
            <a:r>
              <a:t>콘텐츠 + 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0233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578"/>
                </a:solidFill>
              </a:defRPr>
            </a:pPr>
            <a:r>
              <a:t>실제 사진/텍스트</a:t>
            </a:r>
            <a:br/>
            <a:r>
              <a:t>크로스브라우저</a:t>
            </a:r>
          </a:p>
        </p:txBody>
      </p:sp>
      <p:sp>
        <p:nvSpPr>
          <p:cNvPr id="24" name="Oval 23"/>
          <p:cNvSpPr/>
          <p:nvPr/>
        </p:nvSpPr>
        <p:spPr>
          <a:xfrm>
            <a:off x="10424160" y="2560320"/>
            <a:ext cx="274320" cy="274320"/>
          </a:xfrm>
          <a:prstGeom prst="ellipse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965A"/>
                </a:solidFill>
              </a:defRPr>
            </a:pPr>
            <a:r>
              <a:t>W5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EBE3"/>
                </a:solidFill>
              </a:defRPr>
            </a:pPr>
            <a:r>
              <a:t>배포 + 런칭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0233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578"/>
                </a:solidFill>
              </a:defRPr>
            </a:pPr>
            <a:r>
              <a:t>Vercel 배포</a:t>
            </a:r>
            <a:br/>
            <a:r>
              <a:t>도메인, 최종 점검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5A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BE3"/>
                </a:solidFill>
              </a:defRPr>
            </a:pPr>
            <a:r>
              <a:t>기대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8A8578"/>
                </a:solidFill>
              </a:defRPr>
            </a:pPr>
            <a:r>
              <a:t>브랜드 인지도 향상  시네마틱 웹사이트로 영도 대표 문화공간 이미지 구축</a:t>
            </a:r>
          </a:p>
          <a:p>
            <a:pPr>
              <a:spcAft>
                <a:spcPts val="800"/>
              </a:spcAft>
              <a:defRPr sz="1800">
                <a:solidFill>
                  <a:srgbClr val="8A8578"/>
                </a:solidFill>
              </a:defRPr>
            </a:pPr>
            <a:r>
              <a:t>방문자 유입 증가  SEO + SNS 공유를 통한 온라인 노출 확대</a:t>
            </a:r>
          </a:p>
          <a:p>
            <a:pPr>
              <a:spcAft>
                <a:spcPts val="800"/>
              </a:spcAft>
              <a:defRPr sz="1800">
                <a:solidFill>
                  <a:srgbClr val="8A8578"/>
                </a:solidFill>
              </a:defRPr>
            </a:pPr>
            <a:r>
              <a:t>예약 전환율 향상  네이버 예약 원스톱 경험 제공</a:t>
            </a:r>
          </a:p>
          <a:p>
            <a:pPr>
              <a:spcAft>
                <a:spcPts val="800"/>
              </a:spcAft>
              <a:defRPr sz="1800">
                <a:solidFill>
                  <a:srgbClr val="8A8578"/>
                </a:solidFill>
              </a:defRPr>
            </a:pPr>
            <a:r>
              <a:t>대관 문의 효율화  온라인 폼을 통한 체계적 접수 및 관리</a:t>
            </a:r>
          </a:p>
          <a:p>
            <a:pPr>
              <a:spcAft>
                <a:spcPts val="800"/>
              </a:spcAft>
              <a:defRPr sz="1800">
                <a:solidFill>
                  <a:srgbClr val="8A8578"/>
                </a:solidFill>
              </a:defRPr>
            </a:pPr>
            <a:r>
              <a:t>문화 프로그램 홍보  전시/공연/워크숍 지속 업데이트로 재방문 유도</a:t>
            </a:r>
          </a:p>
          <a:p>
            <a:pPr>
              <a:spcAft>
                <a:spcPts val="800"/>
              </a:spcAft>
              <a:defRPr sz="1800">
                <a:solidFill>
                  <a:srgbClr val="8A8578"/>
                </a:solidFill>
              </a:defRPr>
            </a:pPr>
            <a:r>
              <a:t>운영 효율  JSON 기반 콘텐츠 관리로 간편 업데이트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EBE3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965A"/>
                </a:solidFill>
              </a:defRPr>
            </a:pPr>
            <a:r>
              <a:t>Space ONE.Z &amp; Old Beat Yeongdo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578"/>
                </a:solidFill>
              </a:defRPr>
            </a:pPr>
            <a:r>
              <a:t>hello@spacewonji.com  |  부산광역시 영도구 대평로 27번길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