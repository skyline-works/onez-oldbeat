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5A"/>
                </a:solidFill>
              </a:defRPr>
            </a:pPr>
            <a:r>
              <a:t>SKYLINE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578"/>
                </a:solidFill>
              </a:defRPr>
            </a:pPr>
            <a:r>
              <a:t>웹사이트 제작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BE3"/>
                </a:solidFill>
              </a:defRPr>
            </a:pPr>
            <a:r>
              <a:t>스페이스원지 &amp;</a:t>
            </a:r>
            <a:br/>
            <a:r>
              <a:t>올드비트 영도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578"/>
                </a:solidFill>
              </a:defRPr>
            </a:pPr>
            <a:r>
              <a:t>부산 영도의 복합문화공간 공식 웹사이트 구축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055"/>
                </a:solidFill>
              </a:defRPr>
            </a:pPr>
            <a:r>
              <a:t>2025. 04  |  Skyline 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제안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A8578"/>
                </a:solidFill>
              </a:defRPr>
            </a:pPr>
            <a:r>
              <a:t>프로젝트  스페이스원지 &amp; 올드비트 영도 공식 웹사이트 구축</a:t>
            </a:r>
          </a:p>
          <a:p>
            <a:pPr>
              <a:spcAft>
                <a:spcPts val="1200"/>
              </a:spcAft>
              <a:defRPr sz="1800">
                <a:solidFill>
                  <a:srgbClr val="8A8578"/>
                </a:solidFill>
              </a:defRPr>
            </a:pPr>
            <a:r>
              <a:t>유형  신규 웹사이트 기획 · 디자인 · 개발</a:t>
            </a:r>
          </a:p>
          <a:p>
            <a:pPr>
              <a:spcAft>
                <a:spcPts val="1200"/>
              </a:spcAft>
              <a:defRPr sz="1800">
                <a:solidFill>
                  <a:srgbClr val="8A8578"/>
                </a:solidFill>
              </a:defRPr>
            </a:pPr>
            <a:r>
              <a:t>위치  부산광역시 영도구 봉래나루로 214 1층</a:t>
            </a:r>
          </a:p>
          <a:p>
            <a:pPr>
              <a:spcAft>
                <a:spcPts val="1200"/>
              </a:spcAft>
              <a:defRPr sz="1800">
                <a:solidFill>
                  <a:srgbClr val="8A8578"/>
                </a:solidFill>
              </a:defRPr>
            </a:pPr>
            <a:r>
              <a:t>공간  복합문화공간 (레스토랑 + 갤러리 + 공연장 + 워크숍)</a:t>
            </a:r>
          </a:p>
          <a:p>
            <a:pPr>
              <a:spcAft>
                <a:spcPts val="1200"/>
              </a:spcAft>
              <a:defRPr sz="1800">
                <a:solidFill>
                  <a:srgbClr val="8A8578"/>
                </a:solidFill>
              </a:defRPr>
            </a:pPr>
            <a:r>
              <a:t>웹사이트  반응형 8개 페이지 (홈, 소개, 소식, 행사, 공간, 예약)</a:t>
            </a:r>
          </a:p>
          <a:p>
            <a:pPr>
              <a:spcAft>
                <a:spcPts val="1200"/>
              </a:spcAft>
              <a:defRPr sz="1800">
                <a:solidFill>
                  <a:srgbClr val="8A8578"/>
                </a:solidFill>
              </a:defRPr>
            </a:pPr>
            <a:r>
              <a:t>예약  네이버 예약 외부 링크 연동</a:t>
            </a:r>
          </a:p>
          <a:p>
            <a:pPr>
              <a:spcAft>
                <a:spcPts val="1200"/>
              </a:spcAft>
              <a:defRPr sz="1800">
                <a:solidFill>
                  <a:srgbClr val="8A8578"/>
                </a:solidFill>
              </a:defRPr>
            </a:pPr>
            <a:r>
              <a:t>기간  착수 후 5주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제안사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EBE3"/>
                </a:solidFill>
              </a:defRPr>
            </a:pPr>
            <a:r>
              <a:t>Skyline Works</a:t>
            </a:r>
            <a:br/>
            <a:r>
              <a:t>스카이라인웍스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578"/>
                </a:solidFill>
              </a:defRPr>
            </a:pPr>
            <a:r>
              <a:t>"예쁜 웹사이트는 필요 없습니다.</a:t>
            </a:r>
            <a:br/>
            <a:r>
              <a:t>우리는 팔리는 논리를 만듭니다."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A8578"/>
                </a:solidFill>
              </a:defRPr>
            </a:pPr>
            <a:r>
              <a:t>Solid Logic — 설득하는 비즈니스 시나리오 설계</a:t>
            </a:r>
          </a:p>
          <a:p>
            <a:pPr>
              <a:spcAft>
                <a:spcPts val="1400"/>
              </a:spcAft>
              <a:defRPr sz="1600">
                <a:solidFill>
                  <a:srgbClr val="8A8578"/>
                </a:solidFill>
              </a:defRPr>
            </a:pPr>
            <a:r>
              <a:t>Irresistible Flow — 전환을 유도하는 UX 흐름</a:t>
            </a:r>
          </a:p>
          <a:p>
            <a:pPr>
              <a:spcAft>
                <a:spcPts val="1400"/>
              </a:spcAft>
              <a:defRPr sz="1600">
                <a:solidFill>
                  <a:srgbClr val="8A8578"/>
                </a:solidFill>
              </a:defRPr>
            </a:pPr>
            <a:r>
              <a:t>Visual Persuasion — 논리를 각인시키는 디자인</a:t>
            </a:r>
          </a:p>
          <a:p>
            <a:pPr>
              <a:spcAft>
                <a:spcPts val="1400"/>
              </a:spcAft>
              <a:defRPr sz="1600">
                <a:solidFill>
                  <a:srgbClr val="8A8578"/>
                </a:solidFill>
              </a:defRPr>
            </a:pPr>
            <a:r>
              <a:t>Communication Bridge — 비즈니스 ↔ 기술 통역</a:t>
            </a:r>
          </a:p>
          <a:p>
            <a:pPr>
              <a:spcAft>
                <a:spcPts val="1400"/>
              </a:spcAft>
              <a:defRPr sz="1600">
                <a:solidFill>
                  <a:srgbClr val="8A8578"/>
                </a:solidFill>
              </a:defRPr>
            </a:pPr>
            <a:r>
              <a:t>Operational Intelligence — 런칭 이후까지 고려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프로젝트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EBE3"/>
                </a:solidFill>
              </a:defRPr>
            </a:pPr>
            <a:r>
              <a:t>영도의 역사적 산업 건물을 리노베이션한</a:t>
            </a:r>
            <a:br/>
            <a:r>
              <a:t>복합문화공간의 브랜드 가치를</a:t>
            </a:r>
            <a:br/>
            <a:r>
              <a:t>온라인에 효과적으로 전달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8A8578"/>
                </a:solidFill>
              </a:defRPr>
            </a:pPr>
            <a:r>
              <a:t>두 브랜드 통합 아이덴티티 구현</a:t>
            </a:r>
          </a:p>
          <a:p>
            <a:pPr>
              <a:spcAft>
                <a:spcPts val="1400"/>
              </a:spcAft>
              <a:defRPr sz="1800">
                <a:solidFill>
                  <a:srgbClr val="8A8578"/>
                </a:solidFill>
              </a:defRPr>
            </a:pPr>
            <a:r>
              <a:t>공간/메뉴/행사 통합 정보 허브</a:t>
            </a:r>
          </a:p>
          <a:p>
            <a:pPr>
              <a:spcAft>
                <a:spcPts val="1400"/>
              </a:spcAft>
              <a:defRPr sz="1800">
                <a:solidFill>
                  <a:srgbClr val="8A8578"/>
                </a:solidFill>
              </a:defRPr>
            </a:pPr>
            <a:r>
              <a:t>네이버 예약 → 예약 전환 최적화</a:t>
            </a:r>
          </a:p>
          <a:p>
            <a:pPr>
              <a:spcAft>
                <a:spcPts val="1400"/>
              </a:spcAft>
              <a:defRPr sz="1800">
                <a:solidFill>
                  <a:srgbClr val="8A8578"/>
                </a:solidFill>
              </a:defRPr>
            </a:pPr>
            <a:r>
              <a:t>온라인 대관 문의 채널 확보</a:t>
            </a:r>
          </a:p>
          <a:p>
            <a:pPr>
              <a:spcAft>
                <a:spcPts val="1400"/>
              </a:spcAft>
              <a:defRPr sz="1800">
                <a:solidFill>
                  <a:srgbClr val="8A8578"/>
                </a:solidFill>
              </a:defRPr>
            </a:pPr>
            <a:r>
              <a:t>전시/공연/워크숍 지속 홍보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사이트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383280" cy="1828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홈  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7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히어로 + 공간소개</a:t>
            </a:r>
            <a:br/>
            <a:r>
              <a:t>행사 + 소식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2103120"/>
            <a:ext cx="3383280" cy="1828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23774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소개  /about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92607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스토리 · 철학</a:t>
            </a:r>
            <a:br/>
            <a:r>
              <a:t>통계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03120"/>
            <a:ext cx="3383280" cy="1828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3774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소식  /news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92607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카드 그리드</a:t>
            </a:r>
            <a:br/>
            <a:r>
              <a:t>공지/소식/미디어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97679"/>
            <a:ext cx="3383280" cy="1828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19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행사  /events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진행중/예정/종료</a:t>
            </a:r>
            <a:br/>
            <a:r>
              <a:t>전시/공연/워크숍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4297679"/>
            <a:ext cx="3383280" cy="1828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5719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공간  /space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51206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레스토랑 · 갤러리</a:t>
            </a:r>
            <a:br/>
            <a:r>
              <a:t>루프탑 · 워크숍룸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297679"/>
            <a:ext cx="3383280" cy="1828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5719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예약  /reservation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1206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네이버 예약</a:t>
            </a:r>
            <a:br/>
            <a:r>
              <a:t>대관 문의 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디자인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578"/>
                </a:solidFill>
              </a:defRPr>
            </a:pPr>
            <a:r>
              <a:t>"Warm Industrial" — 영도 산업유산의 따뜻한 울림, 패럴랙스 스크롤, 대형 타이포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2377440" cy="1280160"/>
          </a:xfrm>
          <a:prstGeom prst="rect">
            <a:avLst/>
          </a:prstGeom>
          <a:solidFill>
            <a:srgbClr val="0A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EBE3"/>
                </a:solidFill>
              </a:defRPr>
            </a:pPr>
            <a:r>
              <a:t>#0A0A08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BE3"/>
                </a:solidFill>
              </a:defRPr>
            </a:pPr>
            <a:r>
              <a:t>웜 블랙</a:t>
            </a:r>
            <a:br/>
            <a:r>
              <a:t>배경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926080"/>
            <a:ext cx="2377440" cy="128016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EBE3"/>
                </a:solidFill>
              </a:defRPr>
            </a:pPr>
            <a:r>
              <a:t>#C8965A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566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BE3"/>
                </a:solidFill>
              </a:defRPr>
            </a:pPr>
            <a:r>
              <a:t>앤틱 브래스</a:t>
            </a:r>
            <a:br/>
            <a:r>
              <a:t>CTA/강조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26080"/>
            <a:ext cx="2377440" cy="12801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8"/>
                </a:solidFill>
              </a:defRPr>
            </a:pPr>
            <a:r>
              <a:t>#F0EBE3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0A08"/>
                </a:solidFill>
              </a:defRPr>
            </a:pPr>
            <a:r>
              <a:t>웜 크림</a:t>
            </a:r>
            <a:br/>
            <a:r>
              <a:t>메인 텍스트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926080"/>
            <a:ext cx="2377440" cy="1280160"/>
          </a:xfrm>
          <a:prstGeom prst="rect">
            <a:avLst/>
          </a:prstGeom>
          <a:solidFill>
            <a:srgbClr val="8A8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8"/>
                </a:solidFill>
              </a:defRPr>
            </a:pPr>
            <a:r>
              <a:t>#8A8578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566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0A08"/>
                </a:solidFill>
              </a:defRPr>
            </a:pPr>
            <a:r>
              <a:t>웜 그레이</a:t>
            </a:r>
            <a:br/>
            <a:r>
              <a:t>서브 텍스트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8A8578"/>
                </a:solidFill>
              </a:defRPr>
            </a:pPr>
            <a:r>
              <a:t>fade-up — 아래에서 페이드인   |   reveal-scale — 스케일업</a:t>
            </a:r>
          </a:p>
          <a:p>
            <a:pPr>
              <a:spcAft>
                <a:spcPts val="800"/>
              </a:spcAft>
              <a:defRPr sz="1400">
                <a:solidFill>
                  <a:srgbClr val="8A8578"/>
                </a:solidFill>
              </a:defRPr>
            </a:pPr>
            <a:r>
              <a:t>reveal-left/right — 좌/우 슬라이드   |   패럴랙스 — 스크롤 기반 이동</a:t>
            </a:r>
          </a:p>
          <a:p>
            <a:pPr>
              <a:spcAft>
                <a:spcPts val="800"/>
              </a:spcAft>
              <a:defRPr sz="1400">
                <a:solidFill>
                  <a:srgbClr val="8A8578"/>
                </a:solidFill>
              </a:defRPr>
            </a:pPr>
            <a:r>
              <a:t>hero-zoom — 8초간 배경 줌아웃   |   Lenis — 스무스 스크롤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홈페이지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011680" cy="4114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5A"/>
                </a:solidFill>
              </a:defRPr>
            </a:pPr>
            <a:r>
              <a:t>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463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</a:defRPr>
            </a:pPr>
            <a:r>
              <a:t>120vh 패럴랙스</a:t>
            </a:r>
            <a:br/>
            <a:r>
              <a:t>줌인 애니메이션</a:t>
            </a:r>
            <a:br/>
            <a:r>
              <a:t>대형 타이포 (9xl)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011680"/>
            <a:ext cx="2011680" cy="4114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5A"/>
                </a:solidFill>
              </a:defRPr>
            </a:pPr>
            <a:r>
              <a:t>공간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834640"/>
            <a:ext cx="1463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</a:defRPr>
            </a:pPr>
            <a:r>
              <a:t>풀스크린 x 2</a:t>
            </a:r>
            <a:br/>
            <a:r>
              <a:t>패럴랙스 배경</a:t>
            </a:r>
            <a:br/>
            <a:r>
              <a:t>좌/우 슬라이드인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011680"/>
            <a:ext cx="2011680" cy="4114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5A"/>
                </a:solidFill>
              </a:defRPr>
            </a:pPr>
            <a:r>
              <a:t>인터루드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834640"/>
            <a:ext cx="1463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</a:defRPr>
            </a:pPr>
            <a:r>
              <a:t>풀블리드 인용문</a:t>
            </a:r>
            <a:br/>
            <a:r>
              <a:t>스케일업 리빌</a:t>
            </a:r>
            <a:br/>
            <a:r>
              <a:t>'오래된 것의 울림'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011680"/>
            <a:ext cx="2011680" cy="4114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5A"/>
                </a:solidFill>
              </a:defRPr>
            </a:pPr>
            <a:r>
              <a:t>행사·전시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834640"/>
            <a:ext cx="1463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</a:defRPr>
            </a:pPr>
            <a:r>
              <a:t>21:9 피처드 카드</a:t>
            </a:r>
            <a:br/>
            <a:r>
              <a:t>+ 그리드 레이아웃</a:t>
            </a:r>
            <a:br/>
            <a:r>
              <a:t>상태 뱃지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2011680"/>
            <a:ext cx="2011680" cy="4114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5A"/>
                </a:solidFill>
              </a:defRPr>
            </a:pPr>
            <a:r>
              <a:t>소식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834640"/>
            <a:ext cx="1463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</a:defRPr>
            </a:pPr>
            <a:r>
              <a:t>에디토리얼 리스트</a:t>
            </a:r>
            <a:br/>
            <a:r>
              <a:t>번호 + 호버 밀림</a:t>
            </a:r>
            <a:br/>
            <a:r>
              <a:t>카테고리 태그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2468880" cy="32004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5A"/>
                </a:solidFill>
              </a:defRPr>
            </a:pPr>
            <a:r>
              <a:t>Next.js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79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</a:defRPr>
            </a:pPr>
            <a:r>
              <a:t>App Router</a:t>
            </a:r>
            <a:br/>
            <a:r>
              <a:t>SSG 정적 생성</a:t>
            </a:r>
            <a:br/>
            <a:r>
              <a:t>Metadata SEO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103120"/>
            <a:ext cx="2468880" cy="32004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3774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5A"/>
                </a:solidFill>
              </a:defRPr>
            </a:pPr>
            <a:r>
              <a:t>React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926079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</a:defRPr>
            </a:pPr>
            <a:r>
              <a:t>Server Components</a:t>
            </a:r>
            <a:br/>
            <a:r>
              <a:t>TypeScript</a:t>
            </a:r>
            <a:br/>
            <a:r>
              <a:t>컴포넌트 아키텍처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2468880" cy="32004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5A"/>
                </a:solidFill>
              </a:defRPr>
            </a:pPr>
            <a:r>
              <a:t>Tailwind v4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79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</a:defRPr>
            </a:pPr>
            <a:r>
              <a:t>유틸리티 CSS</a:t>
            </a:r>
            <a:br/>
            <a:r>
              <a:t>반응형 디자인</a:t>
            </a:r>
            <a:br/>
            <a:r>
              <a:t>커스텀 테마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103120"/>
            <a:ext cx="2468880" cy="32004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23774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5A"/>
                </a:solidFill>
              </a:defRPr>
            </a:pPr>
            <a:r>
              <a:t>Vercel 배포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926079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</a:defRPr>
            </a:pPr>
            <a:r>
              <a:t>자동 빌드/배포</a:t>
            </a:r>
            <a:br/>
            <a:r>
              <a:t>CDN + SSL</a:t>
            </a:r>
            <a:br/>
            <a:r>
              <a:t>커스텀 도메인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핵심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5029200" cy="192024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3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네이버 예약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79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런치/디너 코스 메뉴 카드</a:t>
            </a:r>
            <a:br/>
            <a:r>
              <a:t>CTA 버튼 → 네이버 예약</a:t>
            </a:r>
            <a:br/>
            <a:r>
              <a:t>행사별 예약 유도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103120"/>
            <a:ext cx="5029200" cy="192024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7743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대관 문의 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926079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이름, 연락처, 이메일</a:t>
            </a:r>
            <a:br/>
            <a:r>
              <a:t>희망일자, 행사유형(7종)</a:t>
            </a:r>
            <a:br/>
            <a:r>
              <a:t>접수 확인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5029200" cy="192024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반응형 디자인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320px ~ 1920px 완전 대응</a:t>
            </a:r>
            <a:br/>
            <a:r>
              <a:t>모바일 햄버거 메뉴</a:t>
            </a:r>
            <a:br/>
            <a:r>
              <a:t>터치 최적화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389120"/>
            <a:ext cx="5029200" cy="192024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663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SEO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2120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Next.js Metadata API</a:t>
            </a:r>
            <a:br/>
            <a:r>
              <a:t>SSG 정적 생성</a:t>
            </a:r>
            <a:br/>
            <a:r>
              <a:t>OG 태그 지원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추진 일정 (5주)</a:t>
            </a:r>
          </a:p>
        </p:txBody>
      </p:sp>
      <p:sp>
        <p:nvSpPr>
          <p:cNvPr id="4" name="Oval 3"/>
          <p:cNvSpPr/>
          <p:nvPr/>
        </p:nvSpPr>
        <p:spPr>
          <a:xfrm>
            <a:off x="1280160" y="2560320"/>
            <a:ext cx="274320" cy="274320"/>
          </a:xfrm>
          <a:prstGeom prst="ellipse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2651760"/>
            <a:ext cx="201168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965A"/>
                </a:solidFill>
              </a:defRPr>
            </a:pPr>
            <a: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EBE3"/>
                </a:solidFill>
              </a:defRPr>
            </a:pPr>
            <a:r>
              <a:t>프로젝트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</a:defRPr>
            </a:pPr>
            <a:r>
              <a:t>환경 구성</a:t>
            </a:r>
            <a:br/>
            <a:r>
              <a:t>디자인 토큰</a:t>
            </a:r>
            <a:br/>
            <a:r>
              <a:t>Header/Footer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2560320"/>
            <a:ext cx="274320" cy="274320"/>
          </a:xfrm>
          <a:prstGeom prst="ellipse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2651760"/>
            <a:ext cx="201168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965A"/>
                </a:solidFill>
              </a:defRPr>
            </a:pPr>
            <a:r>
              <a:t>W2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EBE3"/>
                </a:solidFill>
              </a:defRPr>
            </a:pPr>
            <a:r>
              <a:t>홈페이지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0233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</a:defRPr>
            </a:pPr>
            <a:r>
              <a:t>히어로, 공간소개</a:t>
            </a:r>
            <a:br/>
            <a:r>
              <a:t>인터루드</a:t>
            </a:r>
            <a:br/>
            <a:r>
              <a:t>행사, 소식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2560320"/>
            <a:ext cx="274320" cy="274320"/>
          </a:xfrm>
          <a:prstGeom prst="ellipse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651760"/>
            <a:ext cx="201168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965A"/>
                </a:solidFill>
              </a:defRPr>
            </a:pPr>
            <a:r>
              <a:t>W3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EBE3"/>
                </a:solidFill>
              </a:defRPr>
            </a:pPr>
            <a:r>
              <a:t>서브 페이지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0233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</a:defRPr>
            </a:pPr>
            <a:r>
              <a:t>소개, 소식, 행사</a:t>
            </a:r>
            <a:br/>
            <a:r>
              <a:t>공간, 예약</a:t>
            </a:r>
            <a:br/>
            <a:r>
              <a:t>전체 시안 리뷰</a:t>
            </a:r>
          </a:p>
        </p:txBody>
      </p:sp>
      <p:sp>
        <p:nvSpPr>
          <p:cNvPr id="19" name="Oval 18"/>
          <p:cNvSpPr/>
          <p:nvPr/>
        </p:nvSpPr>
        <p:spPr>
          <a:xfrm>
            <a:off x="8138160" y="2560320"/>
            <a:ext cx="274320" cy="274320"/>
          </a:xfrm>
          <a:prstGeom prst="ellipse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2651760"/>
            <a:ext cx="201168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965A"/>
                </a:solidFill>
              </a:defRPr>
            </a:pPr>
            <a:r>
              <a:t>W4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EBE3"/>
                </a:solidFill>
              </a:defRPr>
            </a:pPr>
            <a:r>
              <a:t>콘텐츠 +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0233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</a:defRPr>
            </a:pPr>
            <a:r>
              <a:t>실제 사진/텍스트</a:t>
            </a:r>
            <a:br/>
            <a:r>
              <a:t>크로스브라우저</a:t>
            </a:r>
            <a:br/>
            <a:r>
              <a:t>성능 최적화</a:t>
            </a:r>
          </a:p>
        </p:txBody>
      </p:sp>
      <p:sp>
        <p:nvSpPr>
          <p:cNvPr id="24" name="Oval 23"/>
          <p:cNvSpPr/>
          <p:nvPr/>
        </p:nvSpPr>
        <p:spPr>
          <a:xfrm>
            <a:off x="10424160" y="2560320"/>
            <a:ext cx="274320" cy="274320"/>
          </a:xfrm>
          <a:prstGeom prst="ellipse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965A"/>
                </a:solidFill>
              </a:defRPr>
            </a:pPr>
            <a:r>
              <a:t>W5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EBE3"/>
                </a:solidFill>
              </a:defRPr>
            </a:pPr>
            <a:r>
              <a:t>배포 + 런칭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0233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</a:defRPr>
            </a:pPr>
            <a:r>
              <a:t>Vercel 배포</a:t>
            </a:r>
            <a:br/>
            <a:r>
              <a:t>도메인 연결</a:t>
            </a:r>
            <a:br/>
            <a:r>
              <a:t>인수인계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견적 및 비용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8A8578"/>
                </a:solidFill>
              </a:defRPr>
            </a:pPr>
            <a:r>
              <a:t>기획 및 설계                1,500,000원</a:t>
            </a:r>
          </a:p>
          <a:p>
            <a:pPr>
              <a:spcAft>
                <a:spcPts val="1000"/>
              </a:spcAft>
              <a:defRPr sz="1600">
                <a:solidFill>
                  <a:srgbClr val="8A8578"/>
                </a:solidFill>
              </a:defRPr>
            </a:pPr>
            <a:r>
              <a:t>UI/UX 디자인              2,500,000원</a:t>
            </a:r>
          </a:p>
          <a:p>
            <a:pPr>
              <a:spcAft>
                <a:spcPts val="1000"/>
              </a:spcAft>
              <a:defRPr sz="1600">
                <a:solidFill>
                  <a:srgbClr val="8A8578"/>
                </a:solidFill>
              </a:defRPr>
            </a:pPr>
            <a:r>
              <a:t>프론트엔드 개발           4,000,000원</a:t>
            </a:r>
          </a:p>
          <a:p>
            <a:pPr>
              <a:spcAft>
                <a:spcPts val="1000"/>
              </a:spcAft>
              <a:defRPr sz="1600">
                <a:solidFill>
                  <a:srgbClr val="8A8578"/>
                </a:solidFill>
              </a:defRPr>
            </a:pPr>
            <a:r>
              <a:t>콘텐츠 적용                   500,000원</a:t>
            </a:r>
          </a:p>
          <a:p>
            <a:pPr>
              <a:spcAft>
                <a:spcPts val="1000"/>
              </a:spcAft>
              <a:defRPr sz="1600">
                <a:solidFill>
                  <a:srgbClr val="8A8578"/>
                </a:solidFill>
              </a:defRPr>
            </a:pPr>
            <a:r>
              <a:t>테스트 및 배포               500,000원</a:t>
            </a:r>
          </a:p>
          <a:p>
            <a:pPr>
              <a:spcAft>
                <a:spcPts val="1000"/>
              </a:spcAft>
              <a:defRPr sz="1600">
                <a:solidFill>
                  <a:srgbClr val="8A8578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Aft>
                <a:spcPts val="1000"/>
              </a:spcAft>
              <a:defRPr sz="1600">
                <a:solidFill>
                  <a:srgbClr val="8A8578"/>
                </a:solidFill>
              </a:defRPr>
            </a:pPr>
            <a:r>
              <a:t>합계 (부가세 별도)       9,000,000원</a:t>
            </a:r>
          </a:p>
          <a:p>
            <a:pPr>
              <a:spcAft>
                <a:spcPts val="1000"/>
              </a:spcAft>
              <a:defRPr sz="1600">
                <a:solidFill>
                  <a:srgbClr val="8A8578"/>
                </a:solidFill>
              </a:defRPr>
            </a:pPr>
            <a:r>
              <a:t>총 금액 (VAT 포함)      9,900,000원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BE3"/>
                </a:solidFill>
              </a:defRPr>
            </a:pPr>
            <a:r>
              <a:t>결제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8A8578"/>
                </a:solidFill>
              </a:defRPr>
            </a:pPr>
            <a:r>
              <a:t>계약금  40%  3,960,000원  (계약 체결 시)</a:t>
            </a:r>
          </a:p>
          <a:p>
            <a:pPr>
              <a:spcAft>
                <a:spcPts val="1600"/>
              </a:spcAft>
              <a:defRPr sz="1500">
                <a:solidFill>
                  <a:srgbClr val="8A8578"/>
                </a:solidFill>
              </a:defRPr>
            </a:pPr>
            <a:r>
              <a:t>중도금  30%  2,970,000원  (시안 확인 후)</a:t>
            </a:r>
          </a:p>
          <a:p>
            <a:pPr>
              <a:spcAft>
                <a:spcPts val="1600"/>
              </a:spcAft>
              <a:defRPr sz="1500">
                <a:solidFill>
                  <a:srgbClr val="8A8578"/>
                </a:solidFill>
              </a:defRPr>
            </a:pPr>
            <a:r>
              <a:t>잔  금  30%  2,970,000원  (최종 납품 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055"/>
                </a:solidFill>
              </a:defRPr>
            </a:pPr>
            <a:r>
              <a:t>* 상세 협의를 통해 조정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유지보수 &amp; 운영 지원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3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5A"/>
                </a:solidFill>
              </a:defRPr>
            </a:pPr>
            <a:r>
              <a:t>무상 유지보수 (3개월)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79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</a:defRPr>
            </a:pPr>
            <a:r>
              <a:t>납품 후 3개월간 무상 하자보수</a:t>
            </a:r>
            <a:br/>
            <a:r>
              <a:t>버그 수정, 브라우저 호환성 대응</a:t>
            </a:r>
            <a:br/>
            <a:r>
              <a:t>경미한 텍스트/이미지 수정 (월 2회)</a:t>
            </a:r>
            <a:br/>
            <a:br/>
            <a:r>
              <a:t>콘텐츠 업데이트 가이드 제공</a:t>
            </a:r>
            <a:br/>
            <a:r>
              <a:t>JSON 수정 매뉴얼</a:t>
            </a:r>
            <a:br/>
            <a:r>
              <a:t>이미지 규격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7743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5A"/>
                </a:solidFill>
              </a:defRPr>
            </a:pPr>
            <a:r>
              <a:t>유상 유지보수 (선택)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926079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</a:defRPr>
            </a:pPr>
            <a:r>
              <a:t>Basic  200,000원/월</a:t>
            </a:r>
            <a:br/>
            <a:r>
              <a:t>  월 4회 콘텐츠 업데이트 + 모니터링</a:t>
            </a:r>
            <a:br/>
            <a:br/>
            <a:r>
              <a:t>Standard  400,000원/월</a:t>
            </a:r>
            <a:br/>
            <a:r>
              <a:t>  월 8회 업데이트 + 기능 개선 + 리포트</a:t>
            </a:r>
            <a:br/>
            <a:br/>
            <a:r>
              <a:t>Premium  별도 협의</a:t>
            </a:r>
            <a:br/>
            <a:r>
              <a:t>  상시 대응 + 신규 기능 + SEO 관리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8A8578"/>
                </a:solidFill>
              </a:defRPr>
            </a:pPr>
            <a:r>
              <a:t>브랜드 인지도 향상      시네마틱 웹사이트로 영도 대표 문화공간 이미지 구축</a:t>
            </a:r>
          </a:p>
          <a:p>
            <a:pPr>
              <a:spcAft>
                <a:spcPts val="1400"/>
              </a:spcAft>
              <a:defRPr sz="1800">
                <a:solidFill>
                  <a:srgbClr val="8A8578"/>
                </a:solidFill>
              </a:defRPr>
            </a:pPr>
            <a:r>
              <a:t>방문자 유입 증가         SEO + SNS 공유를 통한 온라인 노출 확대</a:t>
            </a:r>
          </a:p>
          <a:p>
            <a:pPr>
              <a:spcAft>
                <a:spcPts val="1400"/>
              </a:spcAft>
              <a:defRPr sz="1800">
                <a:solidFill>
                  <a:srgbClr val="8A8578"/>
                </a:solidFill>
              </a:defRPr>
            </a:pPr>
            <a:r>
              <a:t>예약 전환율 향상         네이버 예약 원스톱 경험 제공</a:t>
            </a:r>
          </a:p>
          <a:p>
            <a:pPr>
              <a:spcAft>
                <a:spcPts val="1400"/>
              </a:spcAft>
              <a:defRPr sz="1800">
                <a:solidFill>
                  <a:srgbClr val="8A8578"/>
                </a:solidFill>
              </a:defRPr>
            </a:pPr>
            <a:r>
              <a:t>대관 문의 효율화         온라인 폼을 통한 체계적 접수 및 관리</a:t>
            </a:r>
          </a:p>
          <a:p>
            <a:pPr>
              <a:spcAft>
                <a:spcPts val="1400"/>
              </a:spcAft>
              <a:defRPr sz="1800">
                <a:solidFill>
                  <a:srgbClr val="8A8578"/>
                </a:solidFill>
              </a:defRPr>
            </a:pPr>
            <a:r>
              <a:t>문화 프로그램 홍보      전시/공연/워크숍 지속 업데이트로 재방문 유도</a:t>
            </a:r>
          </a:p>
          <a:p>
            <a:pPr>
              <a:spcAft>
                <a:spcPts val="1400"/>
              </a:spcAft>
              <a:defRPr sz="1800">
                <a:solidFill>
                  <a:srgbClr val="8A8578"/>
                </a:solidFill>
              </a:defRPr>
            </a:pPr>
            <a:r>
              <a:t>운영 효율 극대화         JSON 기반 콘텐츠 관리로 간편 업데이트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0EBE3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8965A"/>
                </a:solidFill>
              </a:defRPr>
            </a:pPr>
            <a:r>
              <a:t>Skyline Works  |  스카이라인웍스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578"/>
                </a:solidFill>
              </a:defRPr>
            </a:pPr>
            <a:r>
              <a:t>스페이스원지 &amp; 올드비트 영도 웹사이트 구축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055"/>
                </a:solidFill>
              </a:defRPr>
            </a:pPr>
            <a:r>
              <a:t>본 제안서에 대한 문의사항이 있으시면 언제든 연락 부탁드립니다.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